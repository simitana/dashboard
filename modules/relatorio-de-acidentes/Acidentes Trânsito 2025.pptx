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-2891647"/>
            <a:ext cx="3810000" cy="2131517"/>
          </a:xfrm>
          <a:prstGeom prst="roundRect">
            <a:avLst>
              <a:gd name="adj" fmla="val 51479"/>
            </a:avLst>
          </a:prstGeom>
          <a:solidFill>
            <a:srgbClr val="F49539">
              <a:alpha val="10000"/>
            </a:srgbClr>
          </a:solidFill>
          <a:ln w="19050">
            <a:solidFill>
              <a:srgbClr val="F4953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0" y="-2891647"/>
            <a:ext cx="3810000" cy="2131517"/>
          </a:xfrm>
          <a:prstGeom prst="roundRect">
            <a:avLst>
              <a:gd name="adj" fmla="val 51479"/>
            </a:avLst>
          </a:prstGeom>
          <a:solidFill>
            <a:srgbClr val="F49539">
              <a:alpha val="10000"/>
            </a:srgbClr>
          </a:solidFill>
          <a:ln w="19050">
            <a:solidFill>
              <a:srgbClr val="F4953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-379130"/>
            <a:ext cx="3810000" cy="2131516"/>
          </a:xfrm>
          <a:prstGeom prst="roundRect">
            <a:avLst>
              <a:gd name="adj" fmla="val 51479"/>
            </a:avLst>
          </a:prstGeom>
          <a:solidFill>
            <a:srgbClr val="01B27C">
              <a:alpha val="10000"/>
            </a:srgbClr>
          </a:solidFill>
          <a:ln w="19050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0" y="-379130"/>
            <a:ext cx="3810000" cy="2131516"/>
          </a:xfrm>
          <a:prstGeom prst="roundRect">
            <a:avLst>
              <a:gd name="adj" fmla="val 51479"/>
            </a:avLst>
          </a:prstGeom>
          <a:solidFill>
            <a:srgbClr val="01B27C">
              <a:alpha val="10000"/>
            </a:srgbClr>
          </a:solidFill>
          <a:ln w="19050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-937236"/>
            <a:ext cx="8001000" cy="3021211"/>
          </a:xfrm>
          <a:prstGeom prst="roundRect">
            <a:avLst>
              <a:gd name="adj" fmla="val 36319"/>
            </a:avLst>
          </a:prstGeom>
          <a:solidFill>
            <a:srgbClr val="01B27C">
              <a:alpha val="5000"/>
            </a:srgbClr>
          </a:solidFill>
          <a:ln w="9525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33267" y="-9725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33267" y="30280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33267" y="70285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33267" y="110290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33267" y="150295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05764"/>
            <a:ext cx="8001000" cy="3021211"/>
          </a:xfrm>
          <a:prstGeom prst="roundRect">
            <a:avLst>
              <a:gd name="adj" fmla="val 36319"/>
            </a:avLst>
          </a:prstGeom>
          <a:solidFill>
            <a:srgbClr val="01B27C">
              <a:alpha val="5000"/>
            </a:srgbClr>
          </a:solidFill>
          <a:ln w="9525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33267" y="104575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33267" y="144580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33267" y="184585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33267" y="224590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33267" y="2645950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60828" y="2316380"/>
            <a:ext cx="582067" cy="200025"/>
          </a:xfrm>
          <a:prstGeom prst="roundRect">
            <a:avLst>
              <a:gd name="adj" fmla="val 182857"/>
            </a:avLst>
          </a:prstGeom>
          <a:solidFill>
            <a:srgbClr val="F49539">
              <a:alpha val="30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60828" y="2754530"/>
            <a:ext cx="569714" cy="200025"/>
          </a:xfrm>
          <a:prstGeom prst="roundRect">
            <a:avLst>
              <a:gd name="adj" fmla="val 182857"/>
            </a:avLst>
          </a:prstGeom>
          <a:solidFill>
            <a:srgbClr val="F49539">
              <a:alpha val="20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60828" y="3192680"/>
            <a:ext cx="569714" cy="200025"/>
          </a:xfrm>
          <a:prstGeom prst="roundRect">
            <a:avLst>
              <a:gd name="adj" fmla="val 182857"/>
            </a:avLst>
          </a:prstGeom>
          <a:solidFill>
            <a:srgbClr val="F49539">
              <a:alpha val="20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860828" y="3630830"/>
            <a:ext cx="582067" cy="200025"/>
          </a:xfrm>
          <a:prstGeom prst="roundRect">
            <a:avLst>
              <a:gd name="adj" fmla="val 182857"/>
            </a:avLst>
          </a:prstGeom>
          <a:solidFill>
            <a:srgbClr val="F49539">
              <a:alpha val="30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60828" y="4068980"/>
            <a:ext cx="608558" cy="200025"/>
          </a:xfrm>
          <a:prstGeom prst="roundRect">
            <a:avLst>
              <a:gd name="adj" fmla="val 182857"/>
            </a:avLst>
          </a:prstGeom>
          <a:solidFill>
            <a:srgbClr val="01B27C">
              <a:alpha val="30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71500" y="2691789"/>
            <a:ext cx="8001000" cy="2621161"/>
          </a:xfrm>
          <a:prstGeom prst="roundRect">
            <a:avLst>
              <a:gd name="adj" fmla="val 41862"/>
            </a:avLst>
          </a:prstGeom>
          <a:solidFill>
            <a:srgbClr val="01B27C">
              <a:alpha val="5000"/>
            </a:srgbClr>
          </a:solidFill>
          <a:ln w="9525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33267" y="3531775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133267" y="3931825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133267" y="4331875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133267" y="4731925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1500" y="4086160"/>
            <a:ext cx="8001000" cy="2621161"/>
          </a:xfrm>
          <a:prstGeom prst="roundRect">
            <a:avLst>
              <a:gd name="adj" fmla="val 41862"/>
            </a:avLst>
          </a:prstGeom>
          <a:solidFill>
            <a:srgbClr val="01B27C">
              <a:alpha val="5000"/>
            </a:srgbClr>
          </a:solidFill>
          <a:ln w="9525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33267" y="4926146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33267" y="5326196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33267" y="5726246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133267" y="6126296"/>
            <a:ext cx="5772150" cy="285750"/>
          </a:xfrm>
          <a:prstGeom prst="roundRect">
            <a:avLst>
              <a:gd name="adj" fmla="val 128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1500" y="5109353"/>
            <a:ext cx="3810000" cy="2131516"/>
          </a:xfrm>
          <a:prstGeom prst="roundRect">
            <a:avLst>
              <a:gd name="adj" fmla="val 51479"/>
            </a:avLst>
          </a:prstGeom>
          <a:solidFill>
            <a:srgbClr val="01B27C">
              <a:alpha val="10000"/>
            </a:srgbClr>
          </a:solidFill>
          <a:ln w="19050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62500" y="5109353"/>
            <a:ext cx="3810000" cy="2131516"/>
          </a:xfrm>
          <a:prstGeom prst="roundRect">
            <a:avLst>
              <a:gd name="adj" fmla="val 51479"/>
            </a:avLst>
          </a:prstGeom>
          <a:solidFill>
            <a:srgbClr val="01B27C">
              <a:alpha val="10000"/>
            </a:srgbClr>
          </a:solidFill>
          <a:ln w="19050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1500" y="7621870"/>
            <a:ext cx="3810000" cy="2131516"/>
          </a:xfrm>
          <a:prstGeom prst="roundRect">
            <a:avLst>
              <a:gd name="adj" fmla="val 51479"/>
            </a:avLst>
          </a:prstGeom>
          <a:solidFill>
            <a:srgbClr val="01B27C">
              <a:alpha val="10000"/>
            </a:srgbClr>
          </a:solidFill>
          <a:ln w="19050">
            <a:solidFill>
              <a:srgbClr val="01B27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62500" y="7621870"/>
            <a:ext cx="3810000" cy="2131516"/>
          </a:xfrm>
          <a:prstGeom prst="roundRect">
            <a:avLst>
              <a:gd name="adj" fmla="val 51479"/>
            </a:avLst>
          </a:prstGeom>
          <a:solidFill>
            <a:srgbClr val="F49539">
              <a:alpha val="10000"/>
            </a:srgbClr>
          </a:solidFill>
          <a:ln w="19050">
            <a:solidFill>
              <a:srgbClr val="F4953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1500" y="6789688"/>
            <a:ext cx="8001000" cy="3093244"/>
          </a:xfrm>
          <a:prstGeom prst="roundRect">
            <a:avLst>
              <a:gd name="adj" fmla="val 35473"/>
            </a:avLst>
          </a:prstGeom>
          <a:solidFill>
            <a:srgbClr val="01B27C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7390120" y="285750"/>
            <a:ext cx="612130" cy="377130"/>
          </a:xfrm>
          <a:prstGeom prst="roundRect">
            <a:avLst>
              <a:gd name="adj" fmla="val 145478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563970"/>
          <a:ext cx="8001000" cy="25908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  <a:gridCol w="1600200"/>
              </a:tblGrid>
              <a:tr h="431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Estrada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Acidentes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Óbitos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Feridos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BR-277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937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495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BR-376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495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BR-116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495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BR-369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F495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BR-476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01B2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5135845"/>
          <a:ext cx="8001000" cy="230505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  <a:gridCol w="1600200"/>
              </a:tblGrid>
              <a:tr h="38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Município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Acidentes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Total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Óbitos</a:t>
                      </a:r>
                      <a:endParaRPr lang="en-US" sz="82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9F5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GUARAPUAVA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6.4%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 GRANDE DO SUL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6.0%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GUARATUBA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5.5%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CURITIBA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8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PONTA GROSSA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4.1%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CAFF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1B2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5"/>
                    </a:solidFill>
                  </a:tcPr>
                </a:tc>
              </a:tr>
            </a:tbl>
          </a:graphicData>
        </a:graphic>
      </p:graphicFrame>
      <p:sp>
        <p:nvSpPr>
          <p:cNvPr id="41" name="Text 37"/>
          <p:cNvSpPr/>
          <p:nvPr/>
        </p:nvSpPr>
        <p:spPr>
          <a:xfrm>
            <a:off x="571500" y="-4278948"/>
            <a:ext cx="80010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Acidentes de Trânsito</a:t>
            </a:r>
            <a:endParaRPr lang="en-US" sz="4800" dirty="0"/>
          </a:p>
        </p:txBody>
      </p:sp>
      <p:sp>
        <p:nvSpPr>
          <p:cNvPr id="42" name="Text 38"/>
          <p:cNvSpPr/>
          <p:nvPr/>
        </p:nvSpPr>
        <p:spPr>
          <a:xfrm>
            <a:off x="491490" y="-2625468"/>
            <a:ext cx="81610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Completa 2025</a:t>
            </a:r>
            <a:endParaRPr lang="en-US" sz="2100" dirty="0"/>
          </a:p>
        </p:txBody>
      </p:sp>
      <p:sp>
        <p:nvSpPr>
          <p:cNvPr id="43" name="Text 39"/>
          <p:cNvSpPr/>
          <p:nvPr/>
        </p:nvSpPr>
        <p:spPr>
          <a:xfrm>
            <a:off x="491490" y="-1871207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Estratégica Engenharia • Dados SPRF-PR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199692" y="-4322266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750" dirty="0"/>
          </a:p>
        </p:txBody>
      </p:sp>
      <p:sp>
        <p:nvSpPr>
          <p:cNvPr id="45" name="Text 41"/>
          <p:cNvSpPr/>
          <p:nvPr/>
        </p:nvSpPr>
        <p:spPr>
          <a:xfrm>
            <a:off x="984463" y="-4371677"/>
            <a:ext cx="595378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Principais</a:t>
            </a:r>
            <a:endParaRPr lang="en-US" sz="3300" dirty="0"/>
          </a:p>
        </p:txBody>
      </p:sp>
      <p:sp>
        <p:nvSpPr>
          <p:cNvPr id="46" name="Text 42"/>
          <p:cNvSpPr/>
          <p:nvPr/>
        </p:nvSpPr>
        <p:spPr>
          <a:xfrm>
            <a:off x="984463" y="-3792587"/>
            <a:ext cx="59537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cenário de 2025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941451" y="-2491597"/>
            <a:ext cx="3070098" cy="18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Acidentes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941451" y="-2162091"/>
            <a:ext cx="30700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50" dirty="0"/>
          </a:p>
        </p:txBody>
      </p:sp>
      <p:sp>
        <p:nvSpPr>
          <p:cNvPr id="49" name="Text 45"/>
          <p:cNvSpPr/>
          <p:nvPr/>
        </p:nvSpPr>
        <p:spPr>
          <a:xfrm>
            <a:off x="941451" y="-1346811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8.2% vs 2024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5132451" y="-2491597"/>
            <a:ext cx="3070098" cy="18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Óbitos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5132451" y="-2162091"/>
            <a:ext cx="30700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50" dirty="0"/>
          </a:p>
        </p:txBody>
      </p:sp>
      <p:sp>
        <p:nvSpPr>
          <p:cNvPr id="52" name="Text 48"/>
          <p:cNvSpPr/>
          <p:nvPr/>
        </p:nvSpPr>
        <p:spPr>
          <a:xfrm>
            <a:off x="5132451" y="-1346811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3.1% vs 2024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941451" y="20920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Feridos Graves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941451" y="350425"/>
            <a:ext cx="30700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50" dirty="0"/>
          </a:p>
        </p:txBody>
      </p:sp>
      <p:sp>
        <p:nvSpPr>
          <p:cNvPr id="55" name="Text 51"/>
          <p:cNvSpPr/>
          <p:nvPr/>
        </p:nvSpPr>
        <p:spPr>
          <a:xfrm>
            <a:off x="941451" y="1165706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2.8% vs 2024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5132451" y="20920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Severidade</a:t>
            </a:r>
            <a:endParaRPr lang="en-US" sz="1050" dirty="0"/>
          </a:p>
        </p:txBody>
      </p:sp>
      <p:sp>
        <p:nvSpPr>
          <p:cNvPr id="57" name="Text 53"/>
          <p:cNvSpPr/>
          <p:nvPr/>
        </p:nvSpPr>
        <p:spPr>
          <a:xfrm>
            <a:off x="5132451" y="350425"/>
            <a:ext cx="30700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50" dirty="0"/>
          </a:p>
        </p:txBody>
      </p:sp>
      <p:sp>
        <p:nvSpPr>
          <p:cNvPr id="58" name="Text 54"/>
          <p:cNvSpPr/>
          <p:nvPr/>
        </p:nvSpPr>
        <p:spPr>
          <a:xfrm>
            <a:off x="5132451" y="1165706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Estável</a:t>
            </a:r>
            <a:endParaRPr lang="en-US" sz="1050" dirty="0"/>
          </a:p>
        </p:txBody>
      </p:sp>
      <p:sp>
        <p:nvSpPr>
          <p:cNvPr id="59" name="Text 55"/>
          <p:cNvSpPr/>
          <p:nvPr/>
        </p:nvSpPr>
        <p:spPr>
          <a:xfrm>
            <a:off x="199692" y="-2367855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3750" dirty="0"/>
          </a:p>
        </p:txBody>
      </p:sp>
      <p:sp>
        <p:nvSpPr>
          <p:cNvPr id="60" name="Text 56"/>
          <p:cNvSpPr/>
          <p:nvPr/>
        </p:nvSpPr>
        <p:spPr>
          <a:xfrm>
            <a:off x="984463" y="-2417266"/>
            <a:ext cx="4918168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Acidentes</a:t>
            </a:r>
            <a:endParaRPr lang="en-US" sz="3300" dirty="0"/>
          </a:p>
        </p:txBody>
      </p:sp>
      <p:sp>
        <p:nvSpPr>
          <p:cNvPr id="61" name="Text 57"/>
          <p:cNvSpPr/>
          <p:nvPr/>
        </p:nvSpPr>
        <p:spPr>
          <a:xfrm>
            <a:off x="984463" y="-1838176"/>
            <a:ext cx="49181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por categoria</a:t>
            </a:r>
            <a:endParaRPr lang="en-US" sz="1050" dirty="0"/>
          </a:p>
        </p:txBody>
      </p:sp>
      <p:sp>
        <p:nvSpPr>
          <p:cNvPr id="62" name="Text 58"/>
          <p:cNvSpPr/>
          <p:nvPr/>
        </p:nvSpPr>
        <p:spPr>
          <a:xfrm>
            <a:off x="866775" y="-641961"/>
            <a:ext cx="755865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Tipos</a:t>
            </a:r>
            <a:endParaRPr lang="en-US" sz="1350" dirty="0"/>
          </a:p>
        </p:txBody>
      </p:sp>
      <p:sp>
        <p:nvSpPr>
          <p:cNvPr id="63" name="Text 59"/>
          <p:cNvSpPr/>
          <p:nvPr/>
        </p:nvSpPr>
        <p:spPr>
          <a:xfrm>
            <a:off x="494967" y="-34444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de Leito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2133267" y="-9725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536</a:t>
            </a:r>
            <a:endParaRPr lang="en-US" sz="825" dirty="0"/>
          </a:p>
        </p:txBody>
      </p:sp>
      <p:sp>
        <p:nvSpPr>
          <p:cNvPr id="65" name="Text 61"/>
          <p:cNvSpPr/>
          <p:nvPr/>
        </p:nvSpPr>
        <p:spPr>
          <a:xfrm>
            <a:off x="494967" y="36560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Colisão Traseira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2133267" y="30280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413</a:t>
            </a:r>
            <a:endParaRPr lang="en-US" sz="825" dirty="0"/>
          </a:p>
        </p:txBody>
      </p:sp>
      <p:sp>
        <p:nvSpPr>
          <p:cNvPr id="67" name="Text 63"/>
          <p:cNvSpPr/>
          <p:nvPr/>
        </p:nvSpPr>
        <p:spPr>
          <a:xfrm>
            <a:off x="494967" y="76565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Colisão com Objeto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2133267" y="70285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</a:t>
            </a:r>
            <a:endParaRPr lang="en-US" sz="825" dirty="0"/>
          </a:p>
        </p:txBody>
      </p:sp>
      <p:sp>
        <p:nvSpPr>
          <p:cNvPr id="69" name="Text 65"/>
          <p:cNvSpPr/>
          <p:nvPr/>
        </p:nvSpPr>
        <p:spPr>
          <a:xfrm>
            <a:off x="494967" y="116570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Capotamento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2133267" y="110290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</a:t>
            </a:r>
            <a:endParaRPr lang="en-US" sz="825" dirty="0"/>
          </a:p>
        </p:txBody>
      </p:sp>
      <p:sp>
        <p:nvSpPr>
          <p:cNvPr id="71" name="Text 67"/>
          <p:cNvSpPr/>
          <p:nvPr/>
        </p:nvSpPr>
        <p:spPr>
          <a:xfrm>
            <a:off x="494967" y="156575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Colisão Frontal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2133267" y="150295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825" dirty="0"/>
          </a:p>
        </p:txBody>
      </p:sp>
      <p:sp>
        <p:nvSpPr>
          <p:cNvPr id="73" name="Text 69"/>
          <p:cNvSpPr/>
          <p:nvPr/>
        </p:nvSpPr>
        <p:spPr>
          <a:xfrm>
            <a:off x="199692" y="-1224855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3750" dirty="0"/>
          </a:p>
        </p:txBody>
      </p:sp>
      <p:sp>
        <p:nvSpPr>
          <p:cNvPr id="74" name="Text 70"/>
          <p:cNvSpPr/>
          <p:nvPr/>
        </p:nvSpPr>
        <p:spPr>
          <a:xfrm>
            <a:off x="984463" y="-1274266"/>
            <a:ext cx="4669057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Principais</a:t>
            </a:r>
            <a:endParaRPr lang="en-US" sz="3300" dirty="0"/>
          </a:p>
        </p:txBody>
      </p:sp>
      <p:sp>
        <p:nvSpPr>
          <p:cNvPr id="75" name="Text 71"/>
          <p:cNvSpPr/>
          <p:nvPr/>
        </p:nvSpPr>
        <p:spPr>
          <a:xfrm>
            <a:off x="984463" y="-695176"/>
            <a:ext cx="46690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que originam acidentes</a:t>
            </a:r>
            <a:endParaRPr lang="en-US" sz="1050" dirty="0"/>
          </a:p>
        </p:txBody>
      </p:sp>
      <p:sp>
        <p:nvSpPr>
          <p:cNvPr id="76" name="Text 72"/>
          <p:cNvSpPr/>
          <p:nvPr/>
        </p:nvSpPr>
        <p:spPr>
          <a:xfrm>
            <a:off x="866775" y="501039"/>
            <a:ext cx="755865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Mais Frequentes</a:t>
            </a:r>
            <a:endParaRPr lang="en-US" sz="1350" dirty="0"/>
          </a:p>
        </p:txBody>
      </p:sp>
      <p:sp>
        <p:nvSpPr>
          <p:cNvPr id="77" name="Text 73"/>
          <p:cNvSpPr/>
          <p:nvPr/>
        </p:nvSpPr>
        <p:spPr>
          <a:xfrm>
            <a:off x="494967" y="110855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Reação Tardia/Ineficiente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2133267" y="104575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endParaRPr lang="en-US" sz="825" dirty="0"/>
          </a:p>
        </p:txBody>
      </p:sp>
      <p:sp>
        <p:nvSpPr>
          <p:cNvPr id="79" name="Text 75"/>
          <p:cNvSpPr/>
          <p:nvPr/>
        </p:nvSpPr>
        <p:spPr>
          <a:xfrm>
            <a:off x="494967" y="150860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Incompatível</a:t>
            </a:r>
            <a:endParaRPr lang="en-US" sz="900" dirty="0"/>
          </a:p>
        </p:txBody>
      </p:sp>
      <p:sp>
        <p:nvSpPr>
          <p:cNvPr id="80" name="Text 76"/>
          <p:cNvSpPr/>
          <p:nvPr/>
        </p:nvSpPr>
        <p:spPr>
          <a:xfrm>
            <a:off x="2133267" y="144580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397</a:t>
            </a:r>
            <a:endParaRPr lang="en-US" sz="825" dirty="0"/>
          </a:p>
        </p:txBody>
      </p:sp>
      <p:sp>
        <p:nvSpPr>
          <p:cNvPr id="81" name="Text 77"/>
          <p:cNvSpPr/>
          <p:nvPr/>
        </p:nvSpPr>
        <p:spPr>
          <a:xfrm>
            <a:off x="494967" y="190865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Ausência de Reação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2133267" y="184585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825" dirty="0"/>
          </a:p>
        </p:txBody>
      </p:sp>
      <p:sp>
        <p:nvSpPr>
          <p:cNvPr id="83" name="Text 79"/>
          <p:cNvSpPr/>
          <p:nvPr/>
        </p:nvSpPr>
        <p:spPr>
          <a:xfrm>
            <a:off x="494967" y="230870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Acessar via sem Observar</a:t>
            </a:r>
            <a:endParaRPr lang="en-US" sz="900" dirty="0"/>
          </a:p>
        </p:txBody>
      </p:sp>
      <p:sp>
        <p:nvSpPr>
          <p:cNvPr id="84" name="Text 80"/>
          <p:cNvSpPr/>
          <p:nvPr/>
        </p:nvSpPr>
        <p:spPr>
          <a:xfrm>
            <a:off x="2133267" y="224590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endParaRPr lang="en-US" sz="825" dirty="0"/>
          </a:p>
        </p:txBody>
      </p:sp>
      <p:sp>
        <p:nvSpPr>
          <p:cNvPr id="85" name="Text 81"/>
          <p:cNvSpPr/>
          <p:nvPr/>
        </p:nvSpPr>
        <p:spPr>
          <a:xfrm>
            <a:off x="494967" y="2708756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 de Álcool</a:t>
            </a:r>
            <a:endParaRPr lang="en-US" sz="900" dirty="0"/>
          </a:p>
        </p:txBody>
      </p:sp>
      <p:sp>
        <p:nvSpPr>
          <p:cNvPr id="86" name="Text 82"/>
          <p:cNvSpPr/>
          <p:nvPr/>
        </p:nvSpPr>
        <p:spPr>
          <a:xfrm>
            <a:off x="2133267" y="2645950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825" dirty="0"/>
          </a:p>
        </p:txBody>
      </p:sp>
      <p:sp>
        <p:nvSpPr>
          <p:cNvPr id="87" name="Text 83"/>
          <p:cNvSpPr/>
          <p:nvPr/>
        </p:nvSpPr>
        <p:spPr>
          <a:xfrm>
            <a:off x="199692" y="133350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🛣️</a:t>
            </a:r>
            <a:endParaRPr lang="en-US" sz="3750" dirty="0"/>
          </a:p>
        </p:txBody>
      </p:sp>
      <p:sp>
        <p:nvSpPr>
          <p:cNvPr id="88" name="Text 84"/>
          <p:cNvSpPr/>
          <p:nvPr/>
        </p:nvSpPr>
        <p:spPr>
          <a:xfrm>
            <a:off x="984463" y="83939"/>
            <a:ext cx="481919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Estradas Críticas</a:t>
            </a:r>
            <a:endParaRPr lang="en-US" sz="3300" dirty="0"/>
          </a:p>
        </p:txBody>
      </p:sp>
      <p:sp>
        <p:nvSpPr>
          <p:cNvPr id="89" name="Text 85"/>
          <p:cNvSpPr/>
          <p:nvPr/>
        </p:nvSpPr>
        <p:spPr>
          <a:xfrm>
            <a:off x="984463" y="663029"/>
            <a:ext cx="4819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 severidade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199692" y="1261170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3750" dirty="0"/>
          </a:p>
        </p:txBody>
      </p:sp>
      <p:sp>
        <p:nvSpPr>
          <p:cNvPr id="91" name="Text 87"/>
          <p:cNvSpPr/>
          <p:nvPr/>
        </p:nvSpPr>
        <p:spPr>
          <a:xfrm>
            <a:off x="984463" y="1211759"/>
            <a:ext cx="7282678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Meteorológicas</a:t>
            </a:r>
            <a:endParaRPr lang="en-US" sz="3300" dirty="0"/>
          </a:p>
        </p:txBody>
      </p:sp>
      <p:sp>
        <p:nvSpPr>
          <p:cNvPr id="92" name="Text 88"/>
          <p:cNvSpPr/>
          <p:nvPr/>
        </p:nvSpPr>
        <p:spPr>
          <a:xfrm>
            <a:off x="984463" y="1790849"/>
            <a:ext cx="72826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Influência das condições climáticas</a:t>
            </a:r>
            <a:endParaRPr lang="en-US" sz="1050" dirty="0"/>
          </a:p>
        </p:txBody>
      </p:sp>
      <p:sp>
        <p:nvSpPr>
          <p:cNvPr id="93" name="Text 89"/>
          <p:cNvSpPr/>
          <p:nvPr/>
        </p:nvSpPr>
        <p:spPr>
          <a:xfrm>
            <a:off x="866775" y="2987064"/>
            <a:ext cx="755865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Acidentes por Clima</a:t>
            </a:r>
            <a:endParaRPr lang="en-US" sz="1350" dirty="0"/>
          </a:p>
        </p:txBody>
      </p:sp>
      <p:sp>
        <p:nvSpPr>
          <p:cNvPr id="94" name="Text 90"/>
          <p:cNvSpPr/>
          <p:nvPr/>
        </p:nvSpPr>
        <p:spPr>
          <a:xfrm>
            <a:off x="494967" y="359458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Céu Claro</a:t>
            </a:r>
            <a:endParaRPr lang="en-US" sz="900" dirty="0"/>
          </a:p>
        </p:txBody>
      </p:sp>
      <p:sp>
        <p:nvSpPr>
          <p:cNvPr id="95" name="Text 91"/>
          <p:cNvSpPr/>
          <p:nvPr/>
        </p:nvSpPr>
        <p:spPr>
          <a:xfrm>
            <a:off x="2133267" y="3531775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1.477</a:t>
            </a:r>
            <a:endParaRPr lang="en-US" sz="825" dirty="0"/>
          </a:p>
        </p:txBody>
      </p:sp>
      <p:sp>
        <p:nvSpPr>
          <p:cNvPr id="96" name="Text 92"/>
          <p:cNvSpPr/>
          <p:nvPr/>
        </p:nvSpPr>
        <p:spPr>
          <a:xfrm>
            <a:off x="494967" y="399463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Nublado</a:t>
            </a:r>
            <a:endParaRPr lang="en-US" sz="900" dirty="0"/>
          </a:p>
        </p:txBody>
      </p:sp>
      <p:sp>
        <p:nvSpPr>
          <p:cNvPr id="97" name="Text 93"/>
          <p:cNvSpPr/>
          <p:nvPr/>
        </p:nvSpPr>
        <p:spPr>
          <a:xfrm>
            <a:off x="2133267" y="3931825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678</a:t>
            </a:r>
            <a:endParaRPr lang="en-US" sz="825" dirty="0"/>
          </a:p>
        </p:txBody>
      </p:sp>
      <p:sp>
        <p:nvSpPr>
          <p:cNvPr id="98" name="Text 94"/>
          <p:cNvSpPr/>
          <p:nvPr/>
        </p:nvSpPr>
        <p:spPr>
          <a:xfrm>
            <a:off x="494967" y="439468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Chuva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2133267" y="4331875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448</a:t>
            </a:r>
            <a:endParaRPr lang="en-US" sz="825" dirty="0"/>
          </a:p>
        </p:txBody>
      </p:sp>
      <p:sp>
        <p:nvSpPr>
          <p:cNvPr id="100" name="Text 96"/>
          <p:cNvSpPr/>
          <p:nvPr/>
        </p:nvSpPr>
        <p:spPr>
          <a:xfrm>
            <a:off x="494967" y="479473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Garoa/Chuvisco</a:t>
            </a:r>
            <a:endParaRPr lang="en-US" sz="900" dirty="0"/>
          </a:p>
        </p:txBody>
      </p:sp>
      <p:sp>
        <p:nvSpPr>
          <p:cNvPr id="101" name="Text 97"/>
          <p:cNvSpPr/>
          <p:nvPr/>
        </p:nvSpPr>
        <p:spPr>
          <a:xfrm>
            <a:off x="2133267" y="4731925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825" dirty="0"/>
          </a:p>
        </p:txBody>
      </p:sp>
      <p:sp>
        <p:nvSpPr>
          <p:cNvPr id="102" name="Text 98"/>
          <p:cNvSpPr/>
          <p:nvPr/>
        </p:nvSpPr>
        <p:spPr>
          <a:xfrm>
            <a:off x="199692" y="2404170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3750" dirty="0"/>
          </a:p>
        </p:txBody>
      </p:sp>
      <p:sp>
        <p:nvSpPr>
          <p:cNvPr id="103" name="Text 99"/>
          <p:cNvSpPr/>
          <p:nvPr/>
        </p:nvSpPr>
        <p:spPr>
          <a:xfrm>
            <a:off x="984463" y="2103239"/>
            <a:ext cx="7216229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por Fase do Dia</a:t>
            </a:r>
            <a:endParaRPr lang="en-US" sz="3300" dirty="0"/>
          </a:p>
        </p:txBody>
      </p:sp>
      <p:sp>
        <p:nvSpPr>
          <p:cNvPr id="104" name="Text 100"/>
          <p:cNvSpPr/>
          <p:nvPr/>
        </p:nvSpPr>
        <p:spPr>
          <a:xfrm>
            <a:off x="984463" y="3185220"/>
            <a:ext cx="73605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Horários de maior risco</a:t>
            </a:r>
            <a:endParaRPr lang="en-US" sz="1050" dirty="0"/>
          </a:p>
        </p:txBody>
      </p:sp>
      <p:sp>
        <p:nvSpPr>
          <p:cNvPr id="105" name="Text 101"/>
          <p:cNvSpPr/>
          <p:nvPr/>
        </p:nvSpPr>
        <p:spPr>
          <a:xfrm>
            <a:off x="866775" y="4381435"/>
            <a:ext cx="755865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Acidentes por Período</a:t>
            </a:r>
            <a:endParaRPr lang="en-US" sz="1350" dirty="0"/>
          </a:p>
        </p:txBody>
      </p:sp>
      <p:sp>
        <p:nvSpPr>
          <p:cNvPr id="106" name="Text 102"/>
          <p:cNvSpPr/>
          <p:nvPr/>
        </p:nvSpPr>
        <p:spPr>
          <a:xfrm>
            <a:off x="494967" y="498895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Pleno Dia (52%)</a:t>
            </a:r>
            <a:endParaRPr lang="en-US" sz="900" dirty="0"/>
          </a:p>
        </p:txBody>
      </p:sp>
      <p:sp>
        <p:nvSpPr>
          <p:cNvPr id="107" name="Text 103"/>
          <p:cNvSpPr/>
          <p:nvPr/>
        </p:nvSpPr>
        <p:spPr>
          <a:xfrm>
            <a:off x="2133267" y="4926146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1.522</a:t>
            </a:r>
            <a:endParaRPr lang="en-US" sz="825" dirty="0"/>
          </a:p>
        </p:txBody>
      </p:sp>
      <p:sp>
        <p:nvSpPr>
          <p:cNvPr id="108" name="Text 104"/>
          <p:cNvSpPr/>
          <p:nvPr/>
        </p:nvSpPr>
        <p:spPr>
          <a:xfrm>
            <a:off x="494967" y="538900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 Noite (38%)</a:t>
            </a:r>
            <a:endParaRPr lang="en-US" sz="900" dirty="0"/>
          </a:p>
        </p:txBody>
      </p:sp>
      <p:sp>
        <p:nvSpPr>
          <p:cNvPr id="109" name="Text 105"/>
          <p:cNvSpPr/>
          <p:nvPr/>
        </p:nvSpPr>
        <p:spPr>
          <a:xfrm>
            <a:off x="2133267" y="5326196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1.110</a:t>
            </a:r>
            <a:endParaRPr lang="en-US" sz="825" dirty="0"/>
          </a:p>
        </p:txBody>
      </p:sp>
      <p:sp>
        <p:nvSpPr>
          <p:cNvPr id="110" name="Text 106"/>
          <p:cNvSpPr/>
          <p:nvPr/>
        </p:nvSpPr>
        <p:spPr>
          <a:xfrm>
            <a:off x="494967" y="578905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Anoitecer (7%)</a:t>
            </a:r>
            <a:endParaRPr lang="en-US" sz="900" dirty="0"/>
          </a:p>
        </p:txBody>
      </p:sp>
      <p:sp>
        <p:nvSpPr>
          <p:cNvPr id="111" name="Text 107"/>
          <p:cNvSpPr/>
          <p:nvPr/>
        </p:nvSpPr>
        <p:spPr>
          <a:xfrm>
            <a:off x="2133267" y="5726246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825" dirty="0"/>
          </a:p>
        </p:txBody>
      </p:sp>
      <p:sp>
        <p:nvSpPr>
          <p:cNvPr id="112" name="Text 108"/>
          <p:cNvSpPr/>
          <p:nvPr/>
        </p:nvSpPr>
        <p:spPr>
          <a:xfrm>
            <a:off x="494967" y="618910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Amanhecer (4%)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2133267" y="6126296"/>
            <a:ext cx="19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825" dirty="0"/>
          </a:p>
        </p:txBody>
      </p:sp>
      <p:sp>
        <p:nvSpPr>
          <p:cNvPr id="114" name="Text 110"/>
          <p:cNvSpPr/>
          <p:nvPr/>
        </p:nvSpPr>
        <p:spPr>
          <a:xfrm>
            <a:off x="199692" y="3705225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3750" dirty="0"/>
          </a:p>
        </p:txBody>
      </p:sp>
      <p:sp>
        <p:nvSpPr>
          <p:cNvPr id="115" name="Text 111"/>
          <p:cNvSpPr/>
          <p:nvPr/>
        </p:nvSpPr>
        <p:spPr>
          <a:xfrm>
            <a:off x="984463" y="3655814"/>
            <a:ext cx="661747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Municípios Mais Afetados</a:t>
            </a:r>
            <a:endParaRPr lang="en-US" sz="3300" dirty="0"/>
          </a:p>
        </p:txBody>
      </p:sp>
      <p:sp>
        <p:nvSpPr>
          <p:cNvPr id="116" name="Text 112"/>
          <p:cNvSpPr/>
          <p:nvPr/>
        </p:nvSpPr>
        <p:spPr>
          <a:xfrm>
            <a:off x="984463" y="4234904"/>
            <a:ext cx="66174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Hotspots regionais</a:t>
            </a:r>
            <a:endParaRPr lang="en-US" sz="1050" dirty="0"/>
          </a:p>
        </p:txBody>
      </p:sp>
      <p:sp>
        <p:nvSpPr>
          <p:cNvPr id="117" name="Text 113"/>
          <p:cNvSpPr/>
          <p:nvPr/>
        </p:nvSpPr>
        <p:spPr>
          <a:xfrm>
            <a:off x="199692" y="3678734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750" dirty="0"/>
          </a:p>
        </p:txBody>
      </p:sp>
      <p:sp>
        <p:nvSpPr>
          <p:cNvPr id="118" name="Text 114"/>
          <p:cNvSpPr/>
          <p:nvPr/>
        </p:nvSpPr>
        <p:spPr>
          <a:xfrm>
            <a:off x="984463" y="3629323"/>
            <a:ext cx="5107621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Estatístico</a:t>
            </a:r>
            <a:endParaRPr lang="en-US" sz="3300" dirty="0"/>
          </a:p>
        </p:txBody>
      </p:sp>
      <p:sp>
        <p:nvSpPr>
          <p:cNvPr id="119" name="Text 115"/>
          <p:cNvSpPr/>
          <p:nvPr/>
        </p:nvSpPr>
        <p:spPr>
          <a:xfrm>
            <a:off x="984463" y="4208413"/>
            <a:ext cx="51076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completa 2025</a:t>
            </a:r>
            <a:endParaRPr lang="en-US" sz="1050" dirty="0"/>
          </a:p>
        </p:txBody>
      </p:sp>
      <p:sp>
        <p:nvSpPr>
          <p:cNvPr id="120" name="Text 116"/>
          <p:cNvSpPr/>
          <p:nvPr/>
        </p:nvSpPr>
        <p:spPr>
          <a:xfrm>
            <a:off x="941451" y="5509403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Vítimas</a:t>
            </a:r>
            <a:endParaRPr lang="en-US" sz="1050" dirty="0"/>
          </a:p>
        </p:txBody>
      </p:sp>
      <p:sp>
        <p:nvSpPr>
          <p:cNvPr id="121" name="Text 117"/>
          <p:cNvSpPr/>
          <p:nvPr/>
        </p:nvSpPr>
        <p:spPr>
          <a:xfrm>
            <a:off x="941451" y="5838909"/>
            <a:ext cx="30700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50" dirty="0"/>
          </a:p>
        </p:txBody>
      </p:sp>
      <p:sp>
        <p:nvSpPr>
          <p:cNvPr id="122" name="Text 118"/>
          <p:cNvSpPr/>
          <p:nvPr/>
        </p:nvSpPr>
        <p:spPr>
          <a:xfrm>
            <a:off x="941451" y="6654189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Feridos + Ilesos</a:t>
            </a:r>
            <a:endParaRPr lang="en-US" sz="1050" dirty="0"/>
          </a:p>
        </p:txBody>
      </p:sp>
      <p:sp>
        <p:nvSpPr>
          <p:cNvPr id="123" name="Text 119"/>
          <p:cNvSpPr/>
          <p:nvPr/>
        </p:nvSpPr>
        <p:spPr>
          <a:xfrm>
            <a:off x="5132451" y="5509403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Feridos Leves</a:t>
            </a:r>
            <a:endParaRPr lang="en-US" sz="1050" dirty="0"/>
          </a:p>
        </p:txBody>
      </p:sp>
      <p:sp>
        <p:nvSpPr>
          <p:cNvPr id="124" name="Text 120"/>
          <p:cNvSpPr/>
          <p:nvPr/>
        </p:nvSpPr>
        <p:spPr>
          <a:xfrm>
            <a:off x="5132451" y="5838909"/>
            <a:ext cx="30700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50" dirty="0"/>
          </a:p>
        </p:txBody>
      </p:sp>
      <p:sp>
        <p:nvSpPr>
          <p:cNvPr id="125" name="Text 121"/>
          <p:cNvSpPr/>
          <p:nvPr/>
        </p:nvSpPr>
        <p:spPr>
          <a:xfrm>
            <a:off x="5132451" y="6654189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47.4% das vítimas</a:t>
            </a:r>
            <a:endParaRPr lang="en-US" sz="1050" dirty="0"/>
          </a:p>
        </p:txBody>
      </p:sp>
      <p:sp>
        <p:nvSpPr>
          <p:cNvPr id="126" name="Text 122"/>
          <p:cNvSpPr/>
          <p:nvPr/>
        </p:nvSpPr>
        <p:spPr>
          <a:xfrm>
            <a:off x="941451" y="8021920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Ilesos</a:t>
            </a:r>
            <a:endParaRPr lang="en-US" sz="1050" dirty="0"/>
          </a:p>
        </p:txBody>
      </p:sp>
      <p:sp>
        <p:nvSpPr>
          <p:cNvPr id="127" name="Text 123"/>
          <p:cNvSpPr/>
          <p:nvPr/>
        </p:nvSpPr>
        <p:spPr>
          <a:xfrm>
            <a:off x="941451" y="8351425"/>
            <a:ext cx="30700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50" dirty="0"/>
          </a:p>
        </p:txBody>
      </p:sp>
      <p:sp>
        <p:nvSpPr>
          <p:cNvPr id="128" name="Text 124"/>
          <p:cNvSpPr/>
          <p:nvPr/>
        </p:nvSpPr>
        <p:spPr>
          <a:xfrm>
            <a:off x="941451" y="9166706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43.8% das vítimas</a:t>
            </a:r>
            <a:endParaRPr lang="en-US" sz="1050" dirty="0"/>
          </a:p>
        </p:txBody>
      </p:sp>
      <p:sp>
        <p:nvSpPr>
          <p:cNvPr id="129" name="Text 125"/>
          <p:cNvSpPr/>
          <p:nvPr/>
        </p:nvSpPr>
        <p:spPr>
          <a:xfrm>
            <a:off x="5132451" y="8021920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Mortalidade</a:t>
            </a:r>
            <a:endParaRPr lang="en-US" sz="1050" dirty="0"/>
          </a:p>
        </p:txBody>
      </p:sp>
      <p:sp>
        <p:nvSpPr>
          <p:cNvPr id="130" name="Text 126"/>
          <p:cNvSpPr/>
          <p:nvPr/>
        </p:nvSpPr>
        <p:spPr>
          <a:xfrm>
            <a:off x="5132451" y="8351425"/>
            <a:ext cx="307009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sz="4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50" dirty="0"/>
          </a:p>
        </p:txBody>
      </p:sp>
      <p:sp>
        <p:nvSpPr>
          <p:cNvPr id="131" name="Text 127"/>
          <p:cNvSpPr/>
          <p:nvPr/>
        </p:nvSpPr>
        <p:spPr>
          <a:xfrm>
            <a:off x="5132451" y="9166706"/>
            <a:ext cx="3070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1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óbitos</a:t>
            </a:r>
            <a:endParaRPr lang="en-US" sz="1050" dirty="0"/>
          </a:p>
        </p:txBody>
      </p:sp>
      <p:sp>
        <p:nvSpPr>
          <p:cNvPr id="132" name="Text 128"/>
          <p:cNvSpPr/>
          <p:nvPr/>
        </p:nvSpPr>
        <p:spPr>
          <a:xfrm>
            <a:off x="199692" y="5597128"/>
            <a:ext cx="60615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3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3750" dirty="0"/>
          </a:p>
        </p:txBody>
      </p:sp>
      <p:sp>
        <p:nvSpPr>
          <p:cNvPr id="133" name="Text 129"/>
          <p:cNvSpPr/>
          <p:nvPr/>
        </p:nvSpPr>
        <p:spPr>
          <a:xfrm>
            <a:off x="984463" y="5547717"/>
            <a:ext cx="4266623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endParaRPr lang="en-US" sz="3300" dirty="0"/>
          </a:p>
        </p:txBody>
      </p:sp>
      <p:sp>
        <p:nvSpPr>
          <p:cNvPr id="134" name="Text 130"/>
          <p:cNvSpPr/>
          <p:nvPr/>
        </p:nvSpPr>
        <p:spPr>
          <a:xfrm>
            <a:off x="984463" y="6126807"/>
            <a:ext cx="426662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1050" dirty="0"/>
          </a:p>
        </p:txBody>
      </p:sp>
      <p:sp>
        <p:nvSpPr>
          <p:cNvPr id="135" name="Text 131"/>
          <p:cNvSpPr/>
          <p:nvPr/>
        </p:nvSpPr>
        <p:spPr>
          <a:xfrm>
            <a:off x="523542" y="7075438"/>
            <a:ext cx="75392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Foco em Saída de Leito</a:t>
            </a:r>
            <a:endParaRPr lang="en-US" sz="1350" dirty="0"/>
          </a:p>
        </p:txBody>
      </p:sp>
      <p:sp>
        <p:nvSpPr>
          <p:cNvPr id="136" name="Text 132"/>
          <p:cNvSpPr/>
          <p:nvPr/>
        </p:nvSpPr>
        <p:spPr>
          <a:xfrm>
            <a:off x="523542" y="7376368"/>
            <a:ext cx="7539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536 acidentes (28% do total) - Reforçar sinalização e manutenção de estradas</a:t>
            </a:r>
            <a:endParaRPr lang="en-US" sz="1050" dirty="0"/>
          </a:p>
        </p:txBody>
      </p:sp>
      <p:sp>
        <p:nvSpPr>
          <p:cNvPr id="137" name="Text 133"/>
          <p:cNvSpPr/>
          <p:nvPr/>
        </p:nvSpPr>
        <p:spPr>
          <a:xfrm>
            <a:off x="419100" y="7753499"/>
            <a:ext cx="75392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Combate à Reação Tardia</a:t>
            </a:r>
            <a:endParaRPr lang="en-US" sz="1350" dirty="0"/>
          </a:p>
        </p:txBody>
      </p:sp>
      <p:sp>
        <p:nvSpPr>
          <p:cNvPr id="138" name="Text 134"/>
          <p:cNvSpPr/>
          <p:nvPr/>
        </p:nvSpPr>
        <p:spPr>
          <a:xfrm>
            <a:off x="419100" y="8054429"/>
            <a:ext cx="7539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de segurança e treinamento defensivo (420 casos/30% das causas)</a:t>
            </a:r>
            <a:endParaRPr lang="en-US" sz="1050" dirty="0"/>
          </a:p>
        </p:txBody>
      </p:sp>
      <p:sp>
        <p:nvSpPr>
          <p:cNvPr id="139" name="Text 135"/>
          <p:cNvSpPr/>
          <p:nvPr/>
        </p:nvSpPr>
        <p:spPr>
          <a:xfrm>
            <a:off x="419100" y="8431560"/>
            <a:ext cx="75392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Intensificar Fiscalização</a:t>
            </a:r>
            <a:endParaRPr lang="en-US" sz="1350" dirty="0"/>
          </a:p>
        </p:txBody>
      </p:sp>
      <p:sp>
        <p:nvSpPr>
          <p:cNvPr id="140" name="Text 136"/>
          <p:cNvSpPr/>
          <p:nvPr/>
        </p:nvSpPr>
        <p:spPr>
          <a:xfrm>
            <a:off x="419100" y="8732490"/>
            <a:ext cx="7539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BR-277 (937 acidentes), BR-376 (687) e BR-116 (414) com maior presença SPRF</a:t>
            </a:r>
            <a:endParaRPr lang="en-US" sz="1050" dirty="0"/>
          </a:p>
        </p:txBody>
      </p:sp>
      <p:sp>
        <p:nvSpPr>
          <p:cNvPr id="141" name="Text 137"/>
          <p:cNvSpPr/>
          <p:nvPr/>
        </p:nvSpPr>
        <p:spPr>
          <a:xfrm>
            <a:off x="419100" y="9109621"/>
            <a:ext cx="75392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Horário Crítico: Pleno Dia</a:t>
            </a:r>
            <a:endParaRPr lang="en-US" sz="1350" dirty="0"/>
          </a:p>
        </p:txBody>
      </p:sp>
      <p:sp>
        <p:nvSpPr>
          <p:cNvPr id="142" name="Text 138"/>
          <p:cNvSpPr/>
          <p:nvPr/>
        </p:nvSpPr>
        <p:spPr>
          <a:xfrm>
            <a:off x="419100" y="9410551"/>
            <a:ext cx="7539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A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 dos acidentes ocorrem durante o dia - Aumentar patrulhas neste período</a:t>
            </a:r>
            <a:endParaRPr lang="en-US" sz="1050" dirty="0"/>
          </a:p>
        </p:txBody>
      </p:sp>
      <p:sp>
        <p:nvSpPr>
          <p:cNvPr id="143" name="Text 139"/>
          <p:cNvSpPr/>
          <p:nvPr/>
        </p:nvSpPr>
        <p:spPr>
          <a:xfrm>
            <a:off x="17532995" y="390525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495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2026-02-13T18:35:31Z</dcterms:created>
  <dcterms:modified xsi:type="dcterms:W3CDTF">2026-02-13T18:35:31Z</dcterms:modified>
</cp:coreProperties>
</file>